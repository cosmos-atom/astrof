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70" r:id="rId10"/>
    <p:sldId id="271" r:id="rId11"/>
    <p:sldId id="272" r:id="rId12"/>
    <p:sldId id="277" r:id="rId13"/>
    <p:sldId id="276" r:id="rId14"/>
  </p:sldIdLst>
  <p:sldSz cx="18288000" cy="10287000"/>
  <p:notesSz cx="6858000" cy="9144000"/>
  <p:embeddedFontLst>
    <p:embeddedFont>
      <p:font typeface="Alta" panose="02000503000000000000" pitchFamily="2" charset="0"/>
      <p:regular r:id="rId16"/>
    </p:embeddedFont>
    <p:embeddedFont>
      <p:font typeface="Arapey" panose="02000000000000000000" pitchFamily="2" charset="77"/>
      <p:regular r:id="rId17"/>
    </p:embeddedFont>
    <p:embeddedFont>
      <p:font typeface="Copperplate Gothic 29 BC Bold" panose="02000504000000020004" pitchFamily="2" charset="77"/>
      <p:regular r:id="rId18"/>
    </p:embeddedFont>
    <p:embeddedFont>
      <p:font typeface="Helvetica World Bold" pitchFamily="2" charset="0"/>
      <p:regular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Tahoma Bold" panose="020B0804030504040204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1144" autoAdjust="0"/>
    <p:restoredTop sz="96739" autoAdjust="0"/>
  </p:normalViewPr>
  <p:slideViewPr>
    <p:cSldViewPr>
      <p:cViewPr>
        <p:scale>
          <a:sx n="82" d="100"/>
          <a:sy n="82" d="100"/>
        </p:scale>
        <p:origin x="656" y="656"/>
      </p:cViewPr>
      <p:guideLst>
        <p:guide orient="horz" pos="2160"/>
        <p:guide pos="2880"/>
      </p:guideLst>
    </p:cSldViewPr>
  </p:slideViewPr>
  <p:outlineViewPr>
    <p:cViewPr>
      <p:scale>
        <a:sx n="40" d="100"/>
        <a:sy n="40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2BE11-325C-6542-AA3F-69A019706CC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D3EAF-C7E6-0B42-B84F-D04A4646F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5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30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80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26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6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32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83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28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55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82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68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81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142C-3C0F-CD6F-16E6-E6C122F2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C5EC7-9E38-3162-4C78-A11868404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CA2AB-B8D1-4817-E1EF-A14F8C297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98217-3346-8E38-38BC-4205991C5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88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D3EAF-C7E6-0B42-B84F-D04A4646FD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5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CE708-AB59-C819-D1F4-4A810789288D}"/>
              </a:ext>
            </a:extLst>
          </p:cNvPr>
          <p:cNvSpPr txBox="1"/>
          <p:nvPr/>
        </p:nvSpPr>
        <p:spPr>
          <a:xfrm>
            <a:off x="5005953" y="3642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1347F7C4-AE0F-8414-3D50-8C6FC6B13DBF}"/>
              </a:ext>
            </a:extLst>
          </p:cNvPr>
          <p:cNvSpPr/>
          <p:nvPr/>
        </p:nvSpPr>
        <p:spPr>
          <a:xfrm>
            <a:off x="0" y="25299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C5BDEB9-DF0D-9EB5-FDC8-2D8E6C38FCB5}"/>
              </a:ext>
            </a:extLst>
          </p:cNvPr>
          <p:cNvSpPr/>
          <p:nvPr/>
        </p:nvSpPr>
        <p:spPr>
          <a:xfrm>
            <a:off x="446399" y="252993"/>
            <a:ext cx="9817538" cy="1551413"/>
          </a:xfrm>
          <a:custGeom>
            <a:avLst/>
            <a:gdLst/>
            <a:ahLst/>
            <a:cxnLst/>
            <a:rect l="l" t="t" r="r" b="b"/>
            <a:pathLst>
              <a:path w="9817538" h="1551413">
                <a:moveTo>
                  <a:pt x="0" y="0"/>
                </a:moveTo>
                <a:lnTo>
                  <a:pt x="9817538" y="0"/>
                </a:lnTo>
                <a:lnTo>
                  <a:pt x="9817538" y="1551414"/>
                </a:lnTo>
                <a:lnTo>
                  <a:pt x="0" y="155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B58994AD-6709-FF8E-5EBD-C3E1DFE25D0A}"/>
              </a:ext>
            </a:extLst>
          </p:cNvPr>
          <p:cNvSpPr/>
          <p:nvPr/>
        </p:nvSpPr>
        <p:spPr>
          <a:xfrm>
            <a:off x="14272824" y="5950074"/>
            <a:ext cx="3430445" cy="3715980"/>
          </a:xfrm>
          <a:custGeom>
            <a:avLst/>
            <a:gdLst/>
            <a:ahLst/>
            <a:cxnLst/>
            <a:rect l="l" t="t" r="r" b="b"/>
            <a:pathLst>
              <a:path w="3430445" h="3715980">
                <a:moveTo>
                  <a:pt x="0" y="0"/>
                </a:moveTo>
                <a:lnTo>
                  <a:pt x="3430445" y="0"/>
                </a:lnTo>
                <a:lnTo>
                  <a:pt x="3430445" y="3715980"/>
                </a:lnTo>
                <a:lnTo>
                  <a:pt x="0" y="3715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8E6DA3A4-FDB5-E720-D956-BF1C5E0B39D6}"/>
              </a:ext>
            </a:extLst>
          </p:cNvPr>
          <p:cNvGrpSpPr/>
          <p:nvPr/>
        </p:nvGrpSpPr>
        <p:grpSpPr>
          <a:xfrm>
            <a:off x="1459249" y="2767012"/>
            <a:ext cx="15369502" cy="2376488"/>
            <a:chOff x="0" y="0"/>
            <a:chExt cx="20492669" cy="3168650"/>
          </a:xfrm>
        </p:grpSpPr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7717D02E-68DC-5FC8-E92C-CBA7078487DA}"/>
                </a:ext>
              </a:extLst>
            </p:cNvPr>
            <p:cNvSpPr txBox="1"/>
            <p:nvPr/>
          </p:nvSpPr>
          <p:spPr>
            <a:xfrm>
              <a:off x="5493664" y="-123825"/>
              <a:ext cx="9505342" cy="296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12"/>
                </a:lnSpc>
              </a:pPr>
              <a:r>
                <a:rPr lang="en-US" sz="14010" spc="1597">
                  <a:solidFill>
                    <a:srgbClr val="00D4FF"/>
                  </a:solidFill>
                  <a:latin typeface="Alta"/>
                  <a:ea typeface="Alta"/>
                  <a:cs typeface="Alta"/>
                  <a:sym typeface="Alta"/>
                </a:rPr>
                <a:t>ASTROF</a:t>
              </a: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D50ADE56-754C-F1B4-1B57-C6E380066B58}"/>
                </a:ext>
              </a:extLst>
            </p:cNvPr>
            <p:cNvSpPr txBox="1"/>
            <p:nvPr/>
          </p:nvSpPr>
          <p:spPr>
            <a:xfrm>
              <a:off x="0" y="2520950"/>
              <a:ext cx="20492669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2"/>
                </a:lnSpc>
              </a:pPr>
              <a:r>
                <a:rPr lang="en-US" sz="3202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Autonomous scheduling through role-oriented federation</a:t>
              </a:r>
            </a:p>
          </p:txBody>
        </p:sp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2DBBE6D5-DFCA-846B-0C36-3DC573F1FDCE}"/>
              </a:ext>
            </a:extLst>
          </p:cNvPr>
          <p:cNvSpPr txBox="1"/>
          <p:nvPr/>
        </p:nvSpPr>
        <p:spPr>
          <a:xfrm>
            <a:off x="852475" y="6379929"/>
            <a:ext cx="6637906" cy="3332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4917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Team X</a:t>
            </a:r>
          </a:p>
          <a:p>
            <a:pPr algn="l">
              <a:lnSpc>
                <a:spcPts val="4820"/>
              </a:lnSpc>
            </a:pPr>
            <a:endParaRPr lang="en-US" sz="4917" dirty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4193"/>
              </a:lnSpc>
            </a:pPr>
            <a:r>
              <a:rPr lang="en-US" sz="3494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🤖 Kavya Sree Kammari</a:t>
            </a:r>
          </a:p>
          <a:p>
            <a:pPr algn="l">
              <a:lnSpc>
                <a:spcPts val="1433"/>
              </a:lnSpc>
            </a:pPr>
            <a:endParaRPr lang="en-US" sz="3494" dirty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4193"/>
              </a:lnSpc>
            </a:pPr>
            <a:r>
              <a:rPr lang="en-US" sz="3494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🤖 Sanyam Bhardwaj</a:t>
            </a:r>
          </a:p>
          <a:p>
            <a:pPr algn="l">
              <a:lnSpc>
                <a:spcPts val="1428"/>
              </a:lnSpc>
            </a:pPr>
            <a:endParaRPr lang="en-US" sz="3494" dirty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4193"/>
              </a:lnSpc>
            </a:pPr>
            <a:r>
              <a:rPr lang="en-US" sz="3494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🤖 </a:t>
            </a:r>
            <a:r>
              <a:rPr lang="en-US" sz="3494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Yasasree</a:t>
            </a:r>
            <a:r>
              <a:rPr lang="en-US" sz="3494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Lasya </a:t>
            </a:r>
            <a:r>
              <a:rPr lang="en-US" sz="3494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Annambhotla</a:t>
            </a:r>
            <a:endParaRPr lang="en-US" sz="3494" dirty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16782" y="2057236"/>
            <a:ext cx="2518610" cy="2518610"/>
          </a:xfrm>
          <a:custGeom>
            <a:avLst/>
            <a:gdLst/>
            <a:ahLst/>
            <a:cxnLst/>
            <a:rect l="l" t="t" r="r" b="b"/>
            <a:pathLst>
              <a:path w="2518610" h="2518610">
                <a:moveTo>
                  <a:pt x="0" y="0"/>
                </a:moveTo>
                <a:lnTo>
                  <a:pt x="2518610" y="0"/>
                </a:lnTo>
                <a:lnTo>
                  <a:pt x="2518610" y="2518610"/>
                </a:lnTo>
                <a:lnTo>
                  <a:pt x="0" y="2518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452314" y="2057236"/>
            <a:ext cx="2518610" cy="2518610"/>
          </a:xfrm>
          <a:custGeom>
            <a:avLst/>
            <a:gdLst/>
            <a:ahLst/>
            <a:cxnLst/>
            <a:rect l="l" t="t" r="r" b="b"/>
            <a:pathLst>
              <a:path w="2518610" h="2518610">
                <a:moveTo>
                  <a:pt x="0" y="0"/>
                </a:moveTo>
                <a:lnTo>
                  <a:pt x="2518610" y="0"/>
                </a:lnTo>
                <a:lnTo>
                  <a:pt x="2518610" y="2518610"/>
                </a:lnTo>
                <a:lnTo>
                  <a:pt x="0" y="2518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132996" y="1172475"/>
            <a:ext cx="1588511" cy="1588511"/>
          </a:xfrm>
          <a:custGeom>
            <a:avLst/>
            <a:gdLst/>
            <a:ahLst/>
            <a:cxnLst/>
            <a:rect l="l" t="t" r="r" b="b"/>
            <a:pathLst>
              <a:path w="1588511" h="1588511">
                <a:moveTo>
                  <a:pt x="0" y="0"/>
                </a:moveTo>
                <a:lnTo>
                  <a:pt x="1588511" y="0"/>
                </a:lnTo>
                <a:lnTo>
                  <a:pt x="1588511" y="1588511"/>
                </a:lnTo>
                <a:lnTo>
                  <a:pt x="0" y="15885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674027" y="2057236"/>
            <a:ext cx="2518610" cy="2518610"/>
          </a:xfrm>
          <a:custGeom>
            <a:avLst/>
            <a:gdLst/>
            <a:ahLst/>
            <a:cxnLst/>
            <a:rect l="l" t="t" r="r" b="b"/>
            <a:pathLst>
              <a:path w="2518610" h="2518610">
                <a:moveTo>
                  <a:pt x="0" y="0"/>
                </a:moveTo>
                <a:lnTo>
                  <a:pt x="2518610" y="0"/>
                </a:lnTo>
                <a:lnTo>
                  <a:pt x="2518610" y="2518610"/>
                </a:lnTo>
                <a:lnTo>
                  <a:pt x="0" y="2518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562104" y="2057236"/>
            <a:ext cx="2518610" cy="2518610"/>
          </a:xfrm>
          <a:custGeom>
            <a:avLst/>
            <a:gdLst/>
            <a:ahLst/>
            <a:cxnLst/>
            <a:rect l="l" t="t" r="r" b="b"/>
            <a:pathLst>
              <a:path w="2518610" h="2518610">
                <a:moveTo>
                  <a:pt x="0" y="0"/>
                </a:moveTo>
                <a:lnTo>
                  <a:pt x="2518610" y="0"/>
                </a:lnTo>
                <a:lnTo>
                  <a:pt x="2518610" y="2518610"/>
                </a:lnTo>
                <a:lnTo>
                  <a:pt x="0" y="2518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879818" y="7066058"/>
            <a:ext cx="3144992" cy="3104965"/>
          </a:xfrm>
          <a:custGeom>
            <a:avLst/>
            <a:gdLst/>
            <a:ahLst/>
            <a:cxnLst/>
            <a:rect l="l" t="t" r="r" b="b"/>
            <a:pathLst>
              <a:path w="3144992" h="3104965">
                <a:moveTo>
                  <a:pt x="0" y="0"/>
                </a:moveTo>
                <a:lnTo>
                  <a:pt x="3144993" y="0"/>
                </a:lnTo>
                <a:lnTo>
                  <a:pt x="3144993" y="3104965"/>
                </a:lnTo>
                <a:lnTo>
                  <a:pt x="0" y="3104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77773" y="457524"/>
            <a:ext cx="16742169" cy="99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YOU HAVE 5 PLANETS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120" y="5013648"/>
            <a:ext cx="228793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Too hot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83285" y="2973641"/>
            <a:ext cx="228793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Too far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82991" y="5013648"/>
            <a:ext cx="228793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 water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04703" y="5027936"/>
            <a:ext cx="228793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Too cold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74027" y="7837490"/>
            <a:ext cx="5412803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1">
                <a:solidFill>
                  <a:srgbClr val="FFFFFF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PICK THE MOST EARTH-LIKE — RIGHT SIZE, RIGHT TEMPERATURE, POSSIBLE WATER.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93847" y="5013648"/>
            <a:ext cx="228793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 Atmosphere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3673" y="5970911"/>
            <a:ext cx="15010369" cy="89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0"/>
              </a:lnSpc>
            </a:pPr>
            <a:r>
              <a:rPr lang="en-US" sz="5383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WHICH ONE DO YOU OBSERVE TONIGHT?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4092749"/>
            <a:ext cx="18288000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7"/>
              </a:lnSpc>
            </a:pPr>
            <a:r>
              <a:rPr lang="en-US" sz="8514" spc="970">
                <a:solidFill>
                  <a:srgbClr val="BFE4FF"/>
                </a:solidFill>
                <a:latin typeface="Arapey"/>
                <a:ea typeface="Arapey"/>
                <a:cs typeface="Arapey"/>
                <a:sym typeface="Arapey"/>
              </a:rPr>
              <a:t>BUT THE SKY ISN’T STATIC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704" y="5194742"/>
            <a:ext cx="16788593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5"/>
              </a:lnSpc>
            </a:pPr>
            <a:r>
              <a:rPr lang="en-US" sz="4579">
                <a:solidFill>
                  <a:srgbClr val="BFE4FF"/>
                </a:solidFill>
                <a:latin typeface="Arapey"/>
                <a:ea typeface="Arapey"/>
                <a:cs typeface="Arapey"/>
                <a:sym typeface="Arapey"/>
              </a:rPr>
              <a:t>&amp; simple ranking is no longer enough.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398112" y="6327819"/>
            <a:ext cx="426777" cy="760405"/>
          </a:xfrm>
          <a:custGeom>
            <a:avLst/>
            <a:gdLst/>
            <a:ahLst/>
            <a:cxnLst/>
            <a:rect l="l" t="t" r="r" b="b"/>
            <a:pathLst>
              <a:path w="426777" h="760405">
                <a:moveTo>
                  <a:pt x="0" y="0"/>
                </a:moveTo>
                <a:lnTo>
                  <a:pt x="426778" y="0"/>
                </a:lnTo>
                <a:lnTo>
                  <a:pt x="426778" y="760405"/>
                </a:lnTo>
                <a:lnTo>
                  <a:pt x="0" y="760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98112" y="3849724"/>
            <a:ext cx="426777" cy="760405"/>
          </a:xfrm>
          <a:custGeom>
            <a:avLst/>
            <a:gdLst/>
            <a:ahLst/>
            <a:cxnLst/>
            <a:rect l="l" t="t" r="r" b="b"/>
            <a:pathLst>
              <a:path w="426777" h="760405">
                <a:moveTo>
                  <a:pt x="0" y="0"/>
                </a:moveTo>
                <a:lnTo>
                  <a:pt x="426778" y="0"/>
                </a:lnTo>
                <a:lnTo>
                  <a:pt x="426778" y="760406"/>
                </a:lnTo>
                <a:lnTo>
                  <a:pt x="0" y="760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398112" y="5088772"/>
            <a:ext cx="426777" cy="760405"/>
          </a:xfrm>
          <a:custGeom>
            <a:avLst/>
            <a:gdLst/>
            <a:ahLst/>
            <a:cxnLst/>
            <a:rect l="l" t="t" r="r" b="b"/>
            <a:pathLst>
              <a:path w="426777" h="760405">
                <a:moveTo>
                  <a:pt x="0" y="0"/>
                </a:moveTo>
                <a:lnTo>
                  <a:pt x="426778" y="0"/>
                </a:lnTo>
                <a:lnTo>
                  <a:pt x="426778" y="760405"/>
                </a:lnTo>
                <a:lnTo>
                  <a:pt x="0" y="760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2597412"/>
            <a:ext cx="7802768" cy="6503530"/>
          </a:xfrm>
          <a:custGeom>
            <a:avLst/>
            <a:gdLst/>
            <a:ahLst/>
            <a:cxnLst/>
            <a:rect l="l" t="t" r="r" b="b"/>
            <a:pathLst>
              <a:path w="7802768" h="6503530">
                <a:moveTo>
                  <a:pt x="0" y="0"/>
                </a:moveTo>
                <a:lnTo>
                  <a:pt x="7802768" y="0"/>
                </a:lnTo>
                <a:lnTo>
                  <a:pt x="7802768" y="6503530"/>
                </a:lnTo>
                <a:lnTo>
                  <a:pt x="0" y="6503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77773" y="457524"/>
            <a:ext cx="1674216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gradFill>
                  <a:gsLst>
                    <a:gs pos="0">
                      <a:srgbClr val="EFC329">
                        <a:alpha val="100000"/>
                      </a:srgbClr>
                    </a:gs>
                    <a:gs pos="100000">
                      <a:srgbClr val="EBDB87">
                        <a:alpha val="100000"/>
                      </a:srgbClr>
                    </a:gs>
                  </a:gsLst>
                  <a:lin ang="5400000"/>
                </a:gradFill>
                <a:latin typeface="Tahoma"/>
                <a:ea typeface="Tahoma"/>
                <a:cs typeface="Tahoma"/>
                <a:sym typeface="Tahoma"/>
              </a:rPr>
              <a:t>CHALLENGE 1: WEATHER CHAOS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47343" y="3840199"/>
            <a:ext cx="4734218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4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CLOUDS ROLL IN</a:t>
            </a:r>
          </a:p>
          <a:p>
            <a:pPr algn="l">
              <a:lnSpc>
                <a:spcPts val="5100"/>
              </a:lnSpc>
            </a:pPr>
            <a:endParaRPr lang="en-US" sz="425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5100"/>
              </a:lnSpc>
            </a:pPr>
            <a:r>
              <a:rPr lang="en-US" sz="4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GO BLIND</a:t>
            </a:r>
          </a:p>
          <a:p>
            <a:pPr algn="l">
              <a:lnSpc>
                <a:spcPts val="5100"/>
              </a:lnSpc>
            </a:pPr>
            <a:endParaRPr lang="en-US" sz="425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5100"/>
              </a:lnSpc>
            </a:pPr>
            <a:r>
              <a:rPr lang="en-US" sz="4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LOSE TIME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785596" y="1457649"/>
            <a:ext cx="5804811" cy="8215096"/>
            <a:chOff x="0" y="0"/>
            <a:chExt cx="7739747" cy="10953461"/>
          </a:xfrm>
        </p:grpSpPr>
        <p:sp>
          <p:nvSpPr>
            <p:cNvPr id="4" name="Freeform 4"/>
            <p:cNvSpPr/>
            <p:nvPr/>
          </p:nvSpPr>
          <p:spPr>
            <a:xfrm rot="9112429">
              <a:off x="857824" y="1115943"/>
              <a:ext cx="6024100" cy="5148382"/>
            </a:xfrm>
            <a:custGeom>
              <a:avLst/>
              <a:gdLst/>
              <a:ahLst/>
              <a:cxnLst/>
              <a:rect l="l" t="t" r="r" b="b"/>
              <a:pathLst>
                <a:path w="6024100" h="5148382">
                  <a:moveTo>
                    <a:pt x="0" y="0"/>
                  </a:moveTo>
                  <a:lnTo>
                    <a:pt x="6024100" y="0"/>
                  </a:lnTo>
                  <a:lnTo>
                    <a:pt x="6024100" y="5148382"/>
                  </a:lnTo>
                  <a:lnTo>
                    <a:pt x="0" y="5148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8000"/>
              </a:blip>
              <a:stretch>
                <a:fillRect l="-25162" t="-16655" r="-26478" b="-315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558842" y="5905522"/>
              <a:ext cx="2737688" cy="5047939"/>
            </a:xfrm>
            <a:custGeom>
              <a:avLst/>
              <a:gdLst/>
              <a:ahLst/>
              <a:cxnLst/>
              <a:rect l="l" t="t" r="r" b="b"/>
              <a:pathLst>
                <a:path w="2737688" h="5047939">
                  <a:moveTo>
                    <a:pt x="0" y="0"/>
                  </a:moveTo>
                  <a:lnTo>
                    <a:pt x="2737687" y="0"/>
                  </a:lnTo>
                  <a:lnTo>
                    <a:pt x="2737687" y="5047939"/>
                  </a:lnTo>
                  <a:lnTo>
                    <a:pt x="0" y="5047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4530" y="6936538"/>
            <a:ext cx="16835412" cy="75780"/>
            <a:chOff x="0" y="0"/>
            <a:chExt cx="24396967" cy="1098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C8FF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20528" y="6759720"/>
            <a:ext cx="176818" cy="176818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33445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94536" y="5470673"/>
            <a:ext cx="176818" cy="176818"/>
            <a:chOff x="0" y="0"/>
            <a:chExt cx="256235" cy="256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33445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67631" y="4302925"/>
            <a:ext cx="176818" cy="176818"/>
            <a:chOff x="0" y="0"/>
            <a:chExt cx="256235" cy="256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BCD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0727" y="3522650"/>
            <a:ext cx="176818" cy="176818"/>
            <a:chOff x="0" y="0"/>
            <a:chExt cx="256235" cy="256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BCD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3831" y="3248659"/>
            <a:ext cx="176818" cy="176818"/>
            <a:chOff x="0" y="0"/>
            <a:chExt cx="256235" cy="2562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BCD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86927" y="3522650"/>
            <a:ext cx="176818" cy="176818"/>
            <a:chOff x="0" y="0"/>
            <a:chExt cx="256235" cy="2562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BCD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960023" y="4302925"/>
            <a:ext cx="176818" cy="176818"/>
            <a:chOff x="0" y="0"/>
            <a:chExt cx="256235" cy="256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33445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433118" y="5470673"/>
            <a:ext cx="176818" cy="176818"/>
            <a:chOff x="0" y="0"/>
            <a:chExt cx="256235" cy="2562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33445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906223" y="6848129"/>
            <a:ext cx="176818" cy="176818"/>
            <a:chOff x="0" y="0"/>
            <a:chExt cx="256235" cy="2562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33445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77773" y="457524"/>
            <a:ext cx="1674216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gradFill>
                  <a:gsLst>
                    <a:gs pos="0">
                      <a:srgbClr val="EFC329">
                        <a:alpha val="100000"/>
                      </a:srgbClr>
                    </a:gs>
                    <a:gs pos="100000">
                      <a:srgbClr val="EBDB87">
                        <a:alpha val="100000"/>
                      </a:srgbClr>
                    </a:gs>
                  </a:gsLst>
                  <a:lin ang="5400000"/>
                </a:gradFill>
                <a:latin typeface="Tahoma"/>
                <a:ea typeface="Tahoma"/>
                <a:cs typeface="Tahoma"/>
                <a:sym typeface="Tahoma"/>
              </a:rPr>
              <a:t>CHALLENGE 2: EARTH ROTATION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9842" y="8126744"/>
            <a:ext cx="7658934" cy="1219200"/>
            <a:chOff x="0" y="0"/>
            <a:chExt cx="10211912" cy="162560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977900"/>
              <a:ext cx="10211912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7"/>
                </a:lnSpc>
                <a:spcBef>
                  <a:spcPct val="0"/>
                </a:spcBef>
              </a:pPr>
              <a:r>
                <a:rPr lang="en-US" sz="3248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YOUR BEST TARGET… IS DISAPPEARING.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57333" y="-9525"/>
              <a:ext cx="5897245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25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PLANETS RISE AND SET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821331" y="2724560"/>
            <a:ext cx="12160719" cy="4399969"/>
          </a:xfrm>
          <a:custGeom>
            <a:avLst/>
            <a:gdLst/>
            <a:ahLst/>
            <a:cxnLst/>
            <a:rect l="l" t="t" r="r" b="b"/>
            <a:pathLst>
              <a:path w="12160719" h="4399969">
                <a:moveTo>
                  <a:pt x="0" y="0"/>
                </a:moveTo>
                <a:lnTo>
                  <a:pt x="12160720" y="0"/>
                </a:lnTo>
                <a:lnTo>
                  <a:pt x="12160720" y="4399969"/>
                </a:lnTo>
                <a:lnTo>
                  <a:pt x="0" y="43999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7773" y="457524"/>
            <a:ext cx="1674216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gradFill>
                  <a:gsLst>
                    <a:gs pos="0">
                      <a:srgbClr val="EFC329">
                        <a:alpha val="100000"/>
                      </a:srgbClr>
                    </a:gs>
                    <a:gs pos="100000">
                      <a:srgbClr val="EBDB87">
                        <a:alpha val="100000"/>
                      </a:srgbClr>
                    </a:gs>
                  </a:gsLst>
                  <a:lin ang="5400000"/>
                </a:gradFill>
                <a:latin typeface="Tahoma"/>
                <a:ea typeface="Tahoma"/>
                <a:cs typeface="Tahoma"/>
                <a:sym typeface="Tahoma"/>
              </a:rPr>
              <a:t>CHALLENGE 3: DEADLINES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68522" y="8125835"/>
            <a:ext cx="9550956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0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THIS HAPPENS ONCE EVERY FEW YEARS.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0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MISS IT…YOU LOSE AND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0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 UNIVERSE DOESN'T RESCHEDULE.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361950"/>
            <a:ext cx="18288000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7"/>
              </a:lnSpc>
            </a:pPr>
            <a:r>
              <a:rPr lang="en-US" sz="8514" spc="970">
                <a:solidFill>
                  <a:srgbClr val="BFE4FF"/>
                </a:solidFill>
                <a:latin typeface="Arapey"/>
                <a:ea typeface="Arapey"/>
                <a:cs typeface="Arapey"/>
                <a:sym typeface="Arapey"/>
              </a:rPr>
              <a:t>NOW  LET’S  SCALE  IT  UP</a:t>
            </a:r>
          </a:p>
        </p:txBody>
      </p:sp>
      <p:sp>
        <p:nvSpPr>
          <p:cNvPr id="4" name="AutoShape 4"/>
          <p:cNvSpPr/>
          <p:nvPr/>
        </p:nvSpPr>
        <p:spPr>
          <a:xfrm>
            <a:off x="4362308" y="3500892"/>
            <a:ext cx="1720014" cy="1255912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362301" y="3500890"/>
            <a:ext cx="1071774" cy="3251021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3313418" y="3500890"/>
            <a:ext cx="1071774" cy="3251021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2665172" y="3500892"/>
            <a:ext cx="1720014" cy="1255912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5411188" y="4733926"/>
            <a:ext cx="671136" cy="2017980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>
            <a:off x="3313430" y="4733918"/>
            <a:ext cx="2768886" cy="2017996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2665176" y="4733921"/>
            <a:ext cx="3417150" cy="22902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H="1">
            <a:off x="3313423" y="6729032"/>
            <a:ext cx="2120656" cy="22875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H="1" flipV="1">
            <a:off x="2665177" y="4733918"/>
            <a:ext cx="2768886" cy="2017996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 flipV="1">
            <a:off x="2665169" y="4733926"/>
            <a:ext cx="671136" cy="2017980"/>
          </a:xfrm>
          <a:prstGeom prst="line">
            <a:avLst/>
          </a:prstGeom>
          <a:ln w="9525" cap="rnd">
            <a:solidFill>
              <a:srgbClr val="00D4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4195301" y="3333882"/>
            <a:ext cx="356892" cy="356892"/>
            <a:chOff x="0" y="0"/>
            <a:chExt cx="475856" cy="4758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00C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92436" y="4566921"/>
            <a:ext cx="356892" cy="356892"/>
            <a:chOff x="0" y="0"/>
            <a:chExt cx="475856" cy="4758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00C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44184" y="6562028"/>
            <a:ext cx="356892" cy="356892"/>
            <a:chOff x="0" y="0"/>
            <a:chExt cx="475856" cy="4758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00C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146408" y="6562028"/>
            <a:ext cx="356892" cy="356892"/>
            <a:chOff x="0" y="0"/>
            <a:chExt cx="475856" cy="4758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00C8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98165" y="4566921"/>
            <a:ext cx="356892" cy="356892"/>
            <a:chOff x="0" y="0"/>
            <a:chExt cx="475856" cy="475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00C8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680711" y="7615084"/>
            <a:ext cx="338607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B7C1D9"/>
                </a:solidFill>
                <a:latin typeface="Tahoma Bold"/>
                <a:ea typeface="Tahoma Bold"/>
                <a:cs typeface="Tahoma Bold"/>
                <a:sym typeface="Tahoma Bold"/>
              </a:rPr>
              <a:t>5 telescopes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B7C1D9"/>
                </a:solidFill>
                <a:latin typeface="Tahoma Bold"/>
                <a:ea typeface="Tahoma Bold"/>
                <a:cs typeface="Tahoma Bold"/>
                <a:sym typeface="Tahoma Bold"/>
              </a:rPr>
              <a:t>10 channels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18034" y="1830597"/>
            <a:ext cx="1185193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 telescope  →  5 planets  ·  26 telescopes →  hundreds of thousands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361950"/>
            <a:ext cx="18288000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7"/>
              </a:lnSpc>
            </a:pPr>
            <a:r>
              <a:rPr lang="en-US" sz="8514" spc="970">
                <a:solidFill>
                  <a:srgbClr val="BFE4FF"/>
                </a:solidFill>
                <a:latin typeface="Arapey"/>
                <a:ea typeface="Arapey"/>
                <a:cs typeface="Arapey"/>
                <a:sym typeface="Arapey"/>
              </a:rPr>
              <a:t>NOW  LET’S  SCALE  IT  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18034" y="1830597"/>
            <a:ext cx="1185193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 telescope  →  5 planets  ·  26 telescopes →  hundreds of thousands</a:t>
            </a:r>
          </a:p>
        </p:txBody>
      </p:sp>
      <p:sp>
        <p:nvSpPr>
          <p:cNvPr id="5" name="AutoShape 5"/>
          <p:cNvSpPr/>
          <p:nvPr/>
        </p:nvSpPr>
        <p:spPr>
          <a:xfrm>
            <a:off x="4362308" y="3500892"/>
            <a:ext cx="1720014" cy="1255912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362301" y="3500890"/>
            <a:ext cx="1071774" cy="3251021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3313418" y="3500890"/>
            <a:ext cx="1071774" cy="3251021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2665172" y="3500892"/>
            <a:ext cx="1720014" cy="1255912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>
            <a:off x="5411188" y="4733926"/>
            <a:ext cx="671136" cy="2017980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3313430" y="4733918"/>
            <a:ext cx="2768886" cy="2017996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H="1">
            <a:off x="2665176" y="4733921"/>
            <a:ext cx="3417150" cy="22902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H="1">
            <a:off x="3313423" y="6729032"/>
            <a:ext cx="2120656" cy="22875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 flipV="1">
            <a:off x="2665177" y="4733918"/>
            <a:ext cx="2768886" cy="2017996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 flipV="1">
            <a:off x="2665169" y="4733926"/>
            <a:ext cx="671136" cy="2017980"/>
          </a:xfrm>
          <a:prstGeom prst="line">
            <a:avLst/>
          </a:prstGeom>
          <a:ln w="9525" cap="rnd">
            <a:solidFill>
              <a:srgbClr val="9595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4195301" y="3333882"/>
            <a:ext cx="356892" cy="356892"/>
            <a:chOff x="0" y="0"/>
            <a:chExt cx="475856" cy="475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5959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92436" y="4566921"/>
            <a:ext cx="356892" cy="356892"/>
            <a:chOff x="0" y="0"/>
            <a:chExt cx="475856" cy="4758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5959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44184" y="6562028"/>
            <a:ext cx="356892" cy="356892"/>
            <a:chOff x="0" y="0"/>
            <a:chExt cx="475856" cy="4758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5959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46408" y="6562028"/>
            <a:ext cx="356892" cy="356892"/>
            <a:chOff x="0" y="0"/>
            <a:chExt cx="475856" cy="4758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5959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498165" y="4566921"/>
            <a:ext cx="356892" cy="356892"/>
            <a:chOff x="0" y="0"/>
            <a:chExt cx="475856" cy="4758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5959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680711" y="7615084"/>
            <a:ext cx="338607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B7C1D9"/>
                </a:solidFill>
                <a:latin typeface="Tahoma Bold"/>
                <a:ea typeface="Tahoma Bold"/>
                <a:cs typeface="Tahoma Bold"/>
                <a:sym typeface="Tahoma Bold"/>
              </a:rPr>
              <a:t>5 telescopes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B7C1D9"/>
                </a:solidFill>
                <a:latin typeface="Tahoma Bold"/>
                <a:ea typeface="Tahoma Bold"/>
                <a:cs typeface="Tahoma Bold"/>
                <a:sym typeface="Tahoma Bold"/>
              </a:rPr>
              <a:t>10 channels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3514985" y="3092893"/>
            <a:ext cx="1306190" cy="434714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13514976" y="3092903"/>
            <a:ext cx="2104041" cy="153283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3514987" y="3092896"/>
            <a:ext cx="2104029" cy="2890215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13514975" y="3092901"/>
            <a:ext cx="1306211" cy="3988342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13514993" y="3092903"/>
            <a:ext cx="15232" cy="440780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H="1">
            <a:off x="12224032" y="3092901"/>
            <a:ext cx="1306211" cy="3988342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 flipH="1">
            <a:off x="11426202" y="3092896"/>
            <a:ext cx="2104029" cy="2890215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 flipH="1">
            <a:off x="11426192" y="3092903"/>
            <a:ext cx="2104041" cy="153283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 flipH="1">
            <a:off x="12224043" y="3092893"/>
            <a:ext cx="1306190" cy="434714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14805919" y="3512355"/>
            <a:ext cx="813089" cy="111339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14805918" y="3512354"/>
            <a:ext cx="813109" cy="247076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14805916" y="3512354"/>
            <a:ext cx="15261" cy="356889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 flipH="1">
            <a:off x="13514965" y="3512354"/>
            <a:ext cx="1306211" cy="3988342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 flipH="1">
            <a:off x="12224034" y="3512357"/>
            <a:ext cx="2597141" cy="356889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H="1">
            <a:off x="11426197" y="3512355"/>
            <a:ext cx="3394973" cy="247075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 flipH="1">
            <a:off x="11426195" y="3512355"/>
            <a:ext cx="3394977" cy="111338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 flipH="1">
            <a:off x="12224041" y="3512356"/>
            <a:ext cx="2597128" cy="1523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>
            <a:off x="15603759" y="4610488"/>
            <a:ext cx="15261" cy="137263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 flipH="1">
            <a:off x="14805918" y="4610492"/>
            <a:ext cx="813109" cy="247076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AutoShape 45"/>
          <p:cNvSpPr/>
          <p:nvPr/>
        </p:nvSpPr>
        <p:spPr>
          <a:xfrm flipH="1">
            <a:off x="13514987" y="4610486"/>
            <a:ext cx="2104029" cy="2890215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 flipH="1">
            <a:off x="12224039" y="4610492"/>
            <a:ext cx="3394973" cy="247075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 flipH="1">
            <a:off x="11426194" y="4610497"/>
            <a:ext cx="4192820" cy="1372612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AutoShape 48"/>
          <p:cNvSpPr/>
          <p:nvPr/>
        </p:nvSpPr>
        <p:spPr>
          <a:xfrm flipH="1">
            <a:off x="11426199" y="4610508"/>
            <a:ext cx="4192820" cy="1522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AutoShape 49"/>
          <p:cNvSpPr/>
          <p:nvPr/>
        </p:nvSpPr>
        <p:spPr>
          <a:xfrm flipH="1" flipV="1">
            <a:off x="12224047" y="3512355"/>
            <a:ext cx="3394977" cy="111338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" name="AutoShape 50"/>
          <p:cNvSpPr/>
          <p:nvPr/>
        </p:nvSpPr>
        <p:spPr>
          <a:xfrm flipH="1">
            <a:off x="14805919" y="5967862"/>
            <a:ext cx="813089" cy="111339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" name="AutoShape 51"/>
          <p:cNvSpPr/>
          <p:nvPr/>
        </p:nvSpPr>
        <p:spPr>
          <a:xfrm flipH="1">
            <a:off x="13514976" y="5967872"/>
            <a:ext cx="2104041" cy="153283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AutoShape 52"/>
          <p:cNvSpPr/>
          <p:nvPr/>
        </p:nvSpPr>
        <p:spPr>
          <a:xfrm flipH="1">
            <a:off x="12224047" y="5967862"/>
            <a:ext cx="3394977" cy="111338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53"/>
          <p:cNvSpPr/>
          <p:nvPr/>
        </p:nvSpPr>
        <p:spPr>
          <a:xfrm flipH="1">
            <a:off x="11426199" y="5967877"/>
            <a:ext cx="4192820" cy="1522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AutoShape 54"/>
          <p:cNvSpPr/>
          <p:nvPr/>
        </p:nvSpPr>
        <p:spPr>
          <a:xfrm flipH="1" flipV="1">
            <a:off x="11426194" y="4610497"/>
            <a:ext cx="4192820" cy="1372612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 flipH="1" flipV="1">
            <a:off x="12224039" y="3512355"/>
            <a:ext cx="3394973" cy="247075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AutoShape 56"/>
          <p:cNvSpPr/>
          <p:nvPr/>
        </p:nvSpPr>
        <p:spPr>
          <a:xfrm flipH="1">
            <a:off x="13514985" y="7065999"/>
            <a:ext cx="1306190" cy="434714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AutoShape 57"/>
          <p:cNvSpPr/>
          <p:nvPr/>
        </p:nvSpPr>
        <p:spPr>
          <a:xfrm flipH="1">
            <a:off x="12224041" y="7066010"/>
            <a:ext cx="2597128" cy="1523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" name="AutoShape 58"/>
          <p:cNvSpPr/>
          <p:nvPr/>
        </p:nvSpPr>
        <p:spPr>
          <a:xfrm flipH="1" flipV="1">
            <a:off x="11426195" y="5967862"/>
            <a:ext cx="3394977" cy="111338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AutoShape 59"/>
          <p:cNvSpPr/>
          <p:nvPr/>
        </p:nvSpPr>
        <p:spPr>
          <a:xfrm flipH="1" flipV="1">
            <a:off x="11426197" y="4610492"/>
            <a:ext cx="3394973" cy="247075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" name="AutoShape 60"/>
          <p:cNvSpPr/>
          <p:nvPr/>
        </p:nvSpPr>
        <p:spPr>
          <a:xfrm flipH="1" flipV="1">
            <a:off x="12224034" y="3512357"/>
            <a:ext cx="2597141" cy="356889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" name="AutoShape 61"/>
          <p:cNvSpPr/>
          <p:nvPr/>
        </p:nvSpPr>
        <p:spPr>
          <a:xfrm flipH="1" flipV="1">
            <a:off x="12224043" y="7065999"/>
            <a:ext cx="1306190" cy="434714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AutoShape 62"/>
          <p:cNvSpPr/>
          <p:nvPr/>
        </p:nvSpPr>
        <p:spPr>
          <a:xfrm flipH="1" flipV="1">
            <a:off x="11426192" y="5967872"/>
            <a:ext cx="2104041" cy="153283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3" name="AutoShape 63"/>
          <p:cNvSpPr/>
          <p:nvPr/>
        </p:nvSpPr>
        <p:spPr>
          <a:xfrm flipH="1" flipV="1">
            <a:off x="11426202" y="4610486"/>
            <a:ext cx="2104029" cy="2890215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AutoShape 64"/>
          <p:cNvSpPr/>
          <p:nvPr/>
        </p:nvSpPr>
        <p:spPr>
          <a:xfrm flipH="1" flipV="1">
            <a:off x="12224036" y="3512349"/>
            <a:ext cx="1306214" cy="3988351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5" name="AutoShape 65"/>
          <p:cNvSpPr/>
          <p:nvPr/>
        </p:nvSpPr>
        <p:spPr>
          <a:xfrm flipH="1" flipV="1">
            <a:off x="11426201" y="5967862"/>
            <a:ext cx="813089" cy="111339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" name="AutoShape 66"/>
          <p:cNvSpPr/>
          <p:nvPr/>
        </p:nvSpPr>
        <p:spPr>
          <a:xfrm flipH="1" flipV="1">
            <a:off x="11426191" y="4610492"/>
            <a:ext cx="813109" cy="247076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7" name="AutoShape 67"/>
          <p:cNvSpPr/>
          <p:nvPr/>
        </p:nvSpPr>
        <p:spPr>
          <a:xfrm flipV="1">
            <a:off x="12224041" y="3512354"/>
            <a:ext cx="15261" cy="3568899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8" name="AutoShape 68"/>
          <p:cNvSpPr/>
          <p:nvPr/>
        </p:nvSpPr>
        <p:spPr>
          <a:xfrm flipV="1">
            <a:off x="11426198" y="4610488"/>
            <a:ext cx="15261" cy="137263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9" name="AutoShape 69"/>
          <p:cNvSpPr/>
          <p:nvPr/>
        </p:nvSpPr>
        <p:spPr>
          <a:xfrm flipV="1">
            <a:off x="11426191" y="3512354"/>
            <a:ext cx="813109" cy="247076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" name="AutoShape 70"/>
          <p:cNvSpPr/>
          <p:nvPr/>
        </p:nvSpPr>
        <p:spPr>
          <a:xfrm flipV="1">
            <a:off x="11426201" y="3512355"/>
            <a:ext cx="813089" cy="1113390"/>
          </a:xfrm>
          <a:prstGeom prst="line">
            <a:avLst/>
          </a:prstGeom>
          <a:ln w="9525" cap="rnd">
            <a:solidFill>
              <a:srgbClr val="00C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1" name="Group 71"/>
          <p:cNvGrpSpPr/>
          <p:nvPr/>
        </p:nvGrpSpPr>
        <p:grpSpPr>
          <a:xfrm>
            <a:off x="13344158" y="2922078"/>
            <a:ext cx="356892" cy="356892"/>
            <a:chOff x="0" y="0"/>
            <a:chExt cx="475856" cy="4758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635101" y="3341530"/>
            <a:ext cx="356892" cy="356892"/>
            <a:chOff x="0" y="0"/>
            <a:chExt cx="475856" cy="4758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432943" y="4439667"/>
            <a:ext cx="356892" cy="356892"/>
            <a:chOff x="0" y="0"/>
            <a:chExt cx="475856" cy="47585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5432943" y="5797037"/>
            <a:ext cx="356892" cy="356892"/>
            <a:chOff x="0" y="0"/>
            <a:chExt cx="475856" cy="47585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635101" y="6895174"/>
            <a:ext cx="356892" cy="356892"/>
            <a:chOff x="0" y="0"/>
            <a:chExt cx="475856" cy="47585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344158" y="7314627"/>
            <a:ext cx="356892" cy="356892"/>
            <a:chOff x="0" y="0"/>
            <a:chExt cx="475856" cy="4758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053226" y="6895174"/>
            <a:ext cx="356892" cy="356892"/>
            <a:chOff x="0" y="0"/>
            <a:chExt cx="475856" cy="47585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1255373" y="5797037"/>
            <a:ext cx="356892" cy="356892"/>
            <a:chOff x="0" y="0"/>
            <a:chExt cx="475856" cy="47585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1255373" y="4439667"/>
            <a:ext cx="356892" cy="356892"/>
            <a:chOff x="0" y="0"/>
            <a:chExt cx="475856" cy="475856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053226" y="3341530"/>
            <a:ext cx="356892" cy="356892"/>
            <a:chOff x="0" y="0"/>
            <a:chExt cx="475856" cy="47585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93E6F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2537910" y="7900119"/>
            <a:ext cx="228327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93E6F7"/>
                </a:solidFill>
                <a:latin typeface="Tahoma Bold"/>
                <a:ea typeface="Tahoma Bold"/>
                <a:cs typeface="Tahoma Bold"/>
                <a:sym typeface="Tahoma Bold"/>
              </a:rPr>
              <a:t>26 telescopes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93E6F7"/>
                </a:solidFill>
                <a:latin typeface="Tahoma Bold"/>
                <a:ea typeface="Tahoma Bold"/>
                <a:cs typeface="Tahoma Bold"/>
                <a:sym typeface="Tahoma Bold"/>
              </a:rPr>
              <a:t>650 channels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802029" y="4627639"/>
            <a:ext cx="68639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→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498165" y="9258300"/>
            <a:ext cx="13261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So the question is, both who talks to whom…And who decides what matters.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77773" y="447999"/>
            <a:ext cx="16742169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BCDDFF"/>
                </a:solidFill>
                <a:latin typeface="Arapey"/>
                <a:ea typeface="Arapey"/>
                <a:cs typeface="Arapey"/>
                <a:sym typeface="Arapey"/>
              </a:rPr>
              <a:t>NEW PHENOMENON. INSTANT ADAPTATION.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42742" y="1618546"/>
            <a:ext cx="1491651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D9DEEB"/>
                </a:solidFill>
                <a:latin typeface="Tahoma"/>
                <a:ea typeface="Tahoma"/>
                <a:cs typeface="Tahoma"/>
                <a:sym typeface="Tahoma"/>
              </a:rPr>
              <a:t>Gravitational Wave Detected !!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16237" y="6620227"/>
            <a:ext cx="648819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3002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IT REASONS. IT ADAPTS. INSTANTLY.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2435" y="7315552"/>
            <a:ext cx="170958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3002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WITHIN HOURS: SCORING GRAVITATIONAL WAVES ALONGSIDE EVERYTHING IT ALREADY KNOWS.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384" y="8644773"/>
            <a:ext cx="8197929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7"/>
              </a:lnSpc>
              <a:spcBef>
                <a:spcPct val="0"/>
              </a:spcBef>
            </a:pPr>
            <a:r>
              <a:rPr lang="en-US" sz="3147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THEY WEREN’T TOLD HOW TO COORDINATE.</a:t>
            </a:r>
          </a:p>
          <a:p>
            <a:pPr algn="ctr">
              <a:lnSpc>
                <a:spcPts val="1857"/>
              </a:lnSpc>
              <a:spcBef>
                <a:spcPct val="0"/>
              </a:spcBef>
            </a:pPr>
            <a:endParaRPr lang="en-US" sz="3147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ctr">
              <a:lnSpc>
                <a:spcPts val="3777"/>
              </a:lnSpc>
              <a:spcBef>
                <a:spcPct val="0"/>
              </a:spcBef>
            </a:pPr>
            <a:r>
              <a:rPr lang="en-US" sz="3147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THEY LEARNED IT.</a:t>
            </a:r>
          </a:p>
        </p:txBody>
      </p:sp>
      <p:sp>
        <p:nvSpPr>
          <p:cNvPr id="8" name="Freeform 8"/>
          <p:cNvSpPr/>
          <p:nvPr/>
        </p:nvSpPr>
        <p:spPr>
          <a:xfrm rot="-2609769">
            <a:off x="403690" y="2013287"/>
            <a:ext cx="3708512" cy="3715267"/>
          </a:xfrm>
          <a:custGeom>
            <a:avLst/>
            <a:gdLst/>
            <a:ahLst/>
            <a:cxnLst/>
            <a:rect l="l" t="t" r="r" b="b"/>
            <a:pathLst>
              <a:path w="3708512" h="3715267">
                <a:moveTo>
                  <a:pt x="0" y="0"/>
                </a:moveTo>
                <a:lnTo>
                  <a:pt x="3708512" y="0"/>
                </a:lnTo>
                <a:lnTo>
                  <a:pt x="3708512" y="3715268"/>
                </a:lnTo>
                <a:lnTo>
                  <a:pt x="0" y="3715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2609769">
            <a:off x="4986112" y="2108901"/>
            <a:ext cx="3708512" cy="3715267"/>
          </a:xfrm>
          <a:custGeom>
            <a:avLst/>
            <a:gdLst/>
            <a:ahLst/>
            <a:cxnLst/>
            <a:rect l="l" t="t" r="r" b="b"/>
            <a:pathLst>
              <a:path w="3708512" h="3715267">
                <a:moveTo>
                  <a:pt x="0" y="0"/>
                </a:moveTo>
                <a:lnTo>
                  <a:pt x="3708512" y="0"/>
                </a:lnTo>
                <a:lnTo>
                  <a:pt x="3708512" y="3715267"/>
                </a:lnTo>
                <a:lnTo>
                  <a:pt x="0" y="3715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609769">
            <a:off x="9626041" y="2271719"/>
            <a:ext cx="3708512" cy="3715267"/>
          </a:xfrm>
          <a:custGeom>
            <a:avLst/>
            <a:gdLst/>
            <a:ahLst/>
            <a:cxnLst/>
            <a:rect l="l" t="t" r="r" b="b"/>
            <a:pathLst>
              <a:path w="3708512" h="3715267">
                <a:moveTo>
                  <a:pt x="0" y="0"/>
                </a:moveTo>
                <a:lnTo>
                  <a:pt x="3708512" y="0"/>
                </a:lnTo>
                <a:lnTo>
                  <a:pt x="3708512" y="3715267"/>
                </a:lnTo>
                <a:lnTo>
                  <a:pt x="0" y="3715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609769">
            <a:off x="14208463" y="2367332"/>
            <a:ext cx="3708512" cy="3715267"/>
          </a:xfrm>
          <a:custGeom>
            <a:avLst/>
            <a:gdLst/>
            <a:ahLst/>
            <a:cxnLst/>
            <a:rect l="l" t="t" r="r" b="b"/>
            <a:pathLst>
              <a:path w="3708512" h="3715267">
                <a:moveTo>
                  <a:pt x="0" y="0"/>
                </a:moveTo>
                <a:lnTo>
                  <a:pt x="3708512" y="0"/>
                </a:lnTo>
                <a:lnTo>
                  <a:pt x="3708512" y="3715268"/>
                </a:lnTo>
                <a:lnTo>
                  <a:pt x="0" y="3715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39AF8A-4586-5A76-C658-270513F6F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8826"/>
            <a:ext cx="15163800" cy="99990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1B3827-AD85-2A82-8B1D-0F57C7BDD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00100"/>
            <a:ext cx="15925804" cy="8686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913F-CA8F-7A38-336E-711003B8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61C284-DBD7-6E11-BBCE-BB121A5A4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08" y="0"/>
            <a:ext cx="18299308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163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96" b="-92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28868" y="1858575"/>
            <a:ext cx="19126" cy="19126"/>
            <a:chOff x="0" y="0"/>
            <a:chExt cx="25502" cy="25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cubicBezTo>
                    <a:pt x="25400" y="19685"/>
                    <a:pt x="19685" y="25400"/>
                    <a:pt x="12700" y="25400"/>
                  </a:cubicBez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ABABA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36834" y="4334551"/>
            <a:ext cx="6842641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2"/>
              </a:lnSpc>
            </a:pPr>
            <a:r>
              <a:rPr lang="en-US" sz="13510" spc="1540">
                <a:solidFill>
                  <a:srgbClr val="00D4FF"/>
                </a:solidFill>
                <a:latin typeface="Alta"/>
                <a:ea typeface="Alta"/>
                <a:cs typeface="Alta"/>
                <a:sym typeface="Alta"/>
              </a:rPr>
              <a:t>ASTROF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558535" y="5023618"/>
            <a:ext cx="16526" cy="16526"/>
            <a:chOff x="0" y="0"/>
            <a:chExt cx="22034" cy="22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" cy="22098"/>
            </a:xfrm>
            <a:custGeom>
              <a:avLst/>
              <a:gdLst/>
              <a:ahLst/>
              <a:cxnLst/>
              <a:rect l="l" t="t" r="r" b="b"/>
              <a:pathLst>
                <a:path w="22098" h="22098">
                  <a:moveTo>
                    <a:pt x="0" y="11049"/>
                  </a:moveTo>
                  <a:cubicBezTo>
                    <a:pt x="0" y="4953"/>
                    <a:pt x="4953" y="0"/>
                    <a:pt x="11049" y="0"/>
                  </a:cubicBezTo>
                  <a:cubicBezTo>
                    <a:pt x="17145" y="0"/>
                    <a:pt x="22098" y="4953"/>
                    <a:pt x="22098" y="11049"/>
                  </a:cubicBezTo>
                  <a:cubicBezTo>
                    <a:pt x="22098" y="17145"/>
                    <a:pt x="17145" y="22098"/>
                    <a:pt x="11049" y="22098"/>
                  </a:cubicBezTo>
                  <a:cubicBezTo>
                    <a:pt x="4953" y="22098"/>
                    <a:pt x="0" y="17145"/>
                    <a:pt x="0" y="11049"/>
                  </a:cubicBezTo>
                  <a:close/>
                </a:path>
              </a:pathLst>
            </a:custGeom>
            <a:solidFill>
              <a:srgbClr val="FCFCF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8341" y="5463740"/>
            <a:ext cx="25194" cy="25194"/>
            <a:chOff x="0" y="0"/>
            <a:chExt cx="33592" cy="335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5" h="33655">
                  <a:moveTo>
                    <a:pt x="0" y="16764"/>
                  </a:moveTo>
                  <a:cubicBezTo>
                    <a:pt x="0" y="7493"/>
                    <a:pt x="7493" y="0"/>
                    <a:pt x="16764" y="0"/>
                  </a:cubicBezTo>
                  <a:cubicBezTo>
                    <a:pt x="26035" y="0"/>
                    <a:pt x="33655" y="7493"/>
                    <a:pt x="33655" y="16764"/>
                  </a:cubicBezTo>
                  <a:cubicBezTo>
                    <a:pt x="33655" y="26035"/>
                    <a:pt x="26035" y="33655"/>
                    <a:pt x="16764" y="33655"/>
                  </a:cubicBezTo>
                  <a:cubicBezTo>
                    <a:pt x="7493" y="33655"/>
                    <a:pt x="0" y="26035"/>
                    <a:pt x="0" y="16764"/>
                  </a:cubicBezTo>
                  <a:close/>
                </a:path>
              </a:pathLst>
            </a:custGeom>
            <a:solidFill>
              <a:srgbClr val="FDFDF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22172" y="1966036"/>
            <a:ext cx="37776" cy="37776"/>
            <a:chOff x="0" y="0"/>
            <a:chExt cx="50368" cy="503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419" cy="50419"/>
            </a:xfrm>
            <a:custGeom>
              <a:avLst/>
              <a:gdLst/>
              <a:ahLst/>
              <a:cxnLst/>
              <a:rect l="l" t="t" r="r" b="b"/>
              <a:pathLst>
                <a:path w="50419" h="50419">
                  <a:moveTo>
                    <a:pt x="0" y="25146"/>
                  </a:moveTo>
                  <a:cubicBezTo>
                    <a:pt x="0" y="11303"/>
                    <a:pt x="11303" y="0"/>
                    <a:pt x="25146" y="0"/>
                  </a:cubicBezTo>
                  <a:cubicBezTo>
                    <a:pt x="38989" y="0"/>
                    <a:pt x="50419" y="11303"/>
                    <a:pt x="50419" y="25146"/>
                  </a:cubicBezTo>
                  <a:cubicBezTo>
                    <a:pt x="50419" y="38989"/>
                    <a:pt x="39116" y="50419"/>
                    <a:pt x="25146" y="50419"/>
                  </a:cubicBezTo>
                  <a:cubicBezTo>
                    <a:pt x="11176" y="50419"/>
                    <a:pt x="0" y="39116"/>
                    <a:pt x="0" y="25146"/>
                  </a:cubicBezTo>
                  <a:close/>
                </a:path>
              </a:pathLst>
            </a:custGeom>
            <a:solidFill>
              <a:srgbClr val="95959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95787" y="2728150"/>
            <a:ext cx="19145" cy="19145"/>
            <a:chOff x="0" y="0"/>
            <a:chExt cx="25527" cy="25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527" cy="25527"/>
            </a:xfrm>
            <a:custGeom>
              <a:avLst/>
              <a:gdLst/>
              <a:ahLst/>
              <a:cxnLst/>
              <a:rect l="l" t="t" r="r" b="b"/>
              <a:pathLst>
                <a:path w="25527" h="25527">
                  <a:moveTo>
                    <a:pt x="0" y="12827"/>
                  </a:moveTo>
                  <a:cubicBezTo>
                    <a:pt x="0" y="5715"/>
                    <a:pt x="5715" y="0"/>
                    <a:pt x="12827" y="0"/>
                  </a:cubicBezTo>
                  <a:cubicBezTo>
                    <a:pt x="19939" y="0"/>
                    <a:pt x="25527" y="5715"/>
                    <a:pt x="25527" y="12827"/>
                  </a:cubicBezTo>
                  <a:cubicBezTo>
                    <a:pt x="25527" y="19939"/>
                    <a:pt x="19812" y="25527"/>
                    <a:pt x="12827" y="25527"/>
                  </a:cubicBezTo>
                  <a:cubicBezTo>
                    <a:pt x="5842" y="25527"/>
                    <a:pt x="0" y="19812"/>
                    <a:pt x="0" y="12827"/>
                  </a:cubicBez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33164" y="2859672"/>
            <a:ext cx="37900" cy="37900"/>
            <a:chOff x="0" y="0"/>
            <a:chExt cx="50533" cy="505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546" cy="50546"/>
            </a:xfrm>
            <a:custGeom>
              <a:avLst/>
              <a:gdLst/>
              <a:ahLst/>
              <a:cxnLst/>
              <a:rect l="l" t="t" r="r" b="b"/>
              <a:pathLst>
                <a:path w="50546" h="50546">
                  <a:moveTo>
                    <a:pt x="0" y="25273"/>
                  </a:moveTo>
                  <a:cubicBezTo>
                    <a:pt x="0" y="11303"/>
                    <a:pt x="11303" y="0"/>
                    <a:pt x="25273" y="0"/>
                  </a:cubicBezTo>
                  <a:cubicBezTo>
                    <a:pt x="39243" y="0"/>
                    <a:pt x="50546" y="11303"/>
                    <a:pt x="50546" y="25273"/>
                  </a:cubicBezTo>
                  <a:cubicBezTo>
                    <a:pt x="50546" y="39243"/>
                    <a:pt x="39243" y="50546"/>
                    <a:pt x="25273" y="50546"/>
                  </a:cubicBezTo>
                  <a:cubicBezTo>
                    <a:pt x="11303" y="50546"/>
                    <a:pt x="0" y="39243"/>
                    <a:pt x="0" y="25273"/>
                  </a:cubicBezTo>
                  <a:close/>
                </a:path>
              </a:pathLst>
            </a:custGeom>
            <a:solidFill>
              <a:srgbClr val="9D9D9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28784" y="3278105"/>
            <a:ext cx="23508" cy="23508"/>
            <a:chOff x="0" y="0"/>
            <a:chExt cx="31344" cy="313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369" cy="31369"/>
            </a:xfrm>
            <a:custGeom>
              <a:avLst/>
              <a:gdLst/>
              <a:ahLst/>
              <a:cxnLst/>
              <a:rect l="l" t="t" r="r" b="b"/>
              <a:pathLst>
                <a:path w="31369" h="31369">
                  <a:moveTo>
                    <a:pt x="0" y="15621"/>
                  </a:moveTo>
                  <a:cubicBezTo>
                    <a:pt x="0" y="6985"/>
                    <a:pt x="6985" y="0"/>
                    <a:pt x="15621" y="0"/>
                  </a:cubicBezTo>
                  <a:cubicBezTo>
                    <a:pt x="24257" y="0"/>
                    <a:pt x="31369" y="6985"/>
                    <a:pt x="31369" y="15621"/>
                  </a:cubicBezTo>
                  <a:cubicBezTo>
                    <a:pt x="31369" y="24257"/>
                    <a:pt x="24384" y="31369"/>
                    <a:pt x="15621" y="31369"/>
                  </a:cubicBezTo>
                  <a:cubicBezTo>
                    <a:pt x="6858" y="31369"/>
                    <a:pt x="0" y="24384"/>
                    <a:pt x="0" y="15621"/>
                  </a:cubicBezTo>
                  <a:close/>
                </a:path>
              </a:pathLst>
            </a:custGeom>
            <a:solidFill>
              <a:srgbClr val="D4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57508" y="1627213"/>
            <a:ext cx="25479" cy="25479"/>
            <a:chOff x="0" y="0"/>
            <a:chExt cx="33972" cy="339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036" cy="34036"/>
            </a:xfrm>
            <a:custGeom>
              <a:avLst/>
              <a:gdLst/>
              <a:ahLst/>
              <a:cxnLst/>
              <a:rect l="l" t="t" r="r" b="b"/>
              <a:pathLst>
                <a:path w="34036" h="34036">
                  <a:moveTo>
                    <a:pt x="0" y="17018"/>
                  </a:moveTo>
                  <a:cubicBezTo>
                    <a:pt x="0" y="7620"/>
                    <a:pt x="7620" y="0"/>
                    <a:pt x="17018" y="0"/>
                  </a:cubicBezTo>
                  <a:cubicBezTo>
                    <a:pt x="26416" y="0"/>
                    <a:pt x="34036" y="7620"/>
                    <a:pt x="34036" y="17018"/>
                  </a:cubicBezTo>
                  <a:cubicBezTo>
                    <a:pt x="34036" y="26416"/>
                    <a:pt x="26416" y="34036"/>
                    <a:pt x="17018" y="34036"/>
                  </a:cubicBezTo>
                  <a:cubicBezTo>
                    <a:pt x="7620" y="34036"/>
                    <a:pt x="0" y="26416"/>
                    <a:pt x="0" y="17018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86716" y="1444962"/>
            <a:ext cx="16088" cy="16088"/>
            <a:chOff x="0" y="0"/>
            <a:chExt cx="21450" cy="214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336" cy="21336"/>
            </a:xfrm>
            <a:custGeom>
              <a:avLst/>
              <a:gdLst/>
              <a:ahLst/>
              <a:cxnLst/>
              <a:rect l="l" t="t" r="r" b="b"/>
              <a:pathLst>
                <a:path w="21336" h="21336">
                  <a:moveTo>
                    <a:pt x="0" y="10668"/>
                  </a:move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cubicBezTo>
                    <a:pt x="21336" y="16510"/>
                    <a:pt x="16510" y="21336"/>
                    <a:pt x="10668" y="21336"/>
                  </a:cubicBezTo>
                  <a:cubicBezTo>
                    <a:pt x="4826" y="21336"/>
                    <a:pt x="0" y="16637"/>
                    <a:pt x="0" y="10668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33952" y="3682575"/>
            <a:ext cx="23327" cy="23327"/>
            <a:chOff x="0" y="0"/>
            <a:chExt cx="31102" cy="311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494"/>
                  </a:moveTo>
                  <a:cubicBezTo>
                    <a:pt x="0" y="6985"/>
                    <a:pt x="6985" y="0"/>
                    <a:pt x="15494" y="0"/>
                  </a:cubicBezTo>
                  <a:cubicBezTo>
                    <a:pt x="24003" y="0"/>
                    <a:pt x="31115" y="6985"/>
                    <a:pt x="31115" y="15494"/>
                  </a:cubicBezTo>
                  <a:cubicBezTo>
                    <a:pt x="31115" y="24003"/>
                    <a:pt x="24130" y="31115"/>
                    <a:pt x="15494" y="31115"/>
                  </a:cubicBezTo>
                  <a:cubicBezTo>
                    <a:pt x="6858" y="31115"/>
                    <a:pt x="0" y="24130"/>
                    <a:pt x="0" y="15494"/>
                  </a:cubicBezTo>
                  <a:close/>
                </a:path>
              </a:pathLst>
            </a:custGeom>
            <a:solidFill>
              <a:srgbClr val="BCBCB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26145" y="2113464"/>
            <a:ext cx="33147" cy="33147"/>
            <a:chOff x="0" y="0"/>
            <a:chExt cx="44196" cy="441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196" cy="44196"/>
            </a:xfrm>
            <a:custGeom>
              <a:avLst/>
              <a:gdLst/>
              <a:ahLst/>
              <a:cxnLst/>
              <a:rect l="l" t="t" r="r" b="b"/>
              <a:pathLst>
                <a:path w="44196" h="44196">
                  <a:moveTo>
                    <a:pt x="0" y="22098"/>
                  </a:moveTo>
                  <a:cubicBezTo>
                    <a:pt x="0" y="9906"/>
                    <a:pt x="9906" y="0"/>
                    <a:pt x="22098" y="0"/>
                  </a:cubicBezTo>
                  <a:cubicBezTo>
                    <a:pt x="34290" y="0"/>
                    <a:pt x="44196" y="9906"/>
                    <a:pt x="44196" y="22098"/>
                  </a:cubicBezTo>
                  <a:cubicBezTo>
                    <a:pt x="44196" y="34290"/>
                    <a:pt x="34290" y="44196"/>
                    <a:pt x="22098" y="44196"/>
                  </a:cubicBezTo>
                  <a:cubicBezTo>
                    <a:pt x="9906" y="44196"/>
                    <a:pt x="0" y="34290"/>
                    <a:pt x="0" y="22098"/>
                  </a:cubicBezTo>
                  <a:close/>
                </a:path>
              </a:pathLst>
            </a:custGeom>
            <a:solidFill>
              <a:srgbClr val="B9B9B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94598" y="3173425"/>
            <a:ext cx="17983" cy="17983"/>
            <a:chOff x="0" y="0"/>
            <a:chExt cx="23978" cy="2397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876" cy="23876"/>
            </a:xfrm>
            <a:custGeom>
              <a:avLst/>
              <a:gdLst/>
              <a:ahLst/>
              <a:cxnLst/>
              <a:rect l="l" t="t" r="r" b="b"/>
              <a:pathLst>
                <a:path w="23876" h="23876">
                  <a:moveTo>
                    <a:pt x="0" y="11938"/>
                  </a:moveTo>
                  <a:cubicBezTo>
                    <a:pt x="0" y="5334"/>
                    <a:pt x="5334" y="0"/>
                    <a:pt x="11938" y="0"/>
                  </a:cubicBezTo>
                  <a:cubicBezTo>
                    <a:pt x="18542" y="0"/>
                    <a:pt x="23876" y="5334"/>
                    <a:pt x="23876" y="11938"/>
                  </a:cubicBezTo>
                  <a:cubicBezTo>
                    <a:pt x="23876" y="18542"/>
                    <a:pt x="18542" y="23876"/>
                    <a:pt x="11938" y="23876"/>
                  </a:cubicBezTo>
                  <a:cubicBezTo>
                    <a:pt x="5334" y="23876"/>
                    <a:pt x="0" y="18669"/>
                    <a:pt x="0" y="11938"/>
                  </a:cubicBezTo>
                  <a:close/>
                </a:path>
              </a:pathLst>
            </a:custGeom>
            <a:solidFill>
              <a:srgbClr val="DADA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59249" y="6394828"/>
            <a:ext cx="1536950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Multi-Agent  ·  Long-Horizon  ·  Lifelong Learning  ·  Real NASA Data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32833" y="1461049"/>
            <a:ext cx="12061627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2"/>
              </a:lnSpc>
              <a:spcBef>
                <a:spcPct val="0"/>
              </a:spcBef>
            </a:pPr>
            <a:r>
              <a:rPr lang="en-US" sz="4301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THE LAST ASTRONOMER DOESN’T RETIRE…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28644" y="2719140"/>
            <a:ext cx="1147000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2"/>
              </a:lnSpc>
              <a:spcBef>
                <a:spcPct val="0"/>
              </a:spcBef>
            </a:pPr>
            <a:r>
              <a:rPr lang="en-US" sz="4301" b="1" dirty="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…THEY GET A TEAM THAT NEVER SLEEPS.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26809" y="8201587"/>
            <a:ext cx="8382714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3201" b="1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BECAUSE THE UNIVERSE DOESN’T WAIT.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269</Words>
  <Application>Microsoft Macintosh PowerPoint</Application>
  <PresentationFormat>Custom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Tahoma Bold</vt:lpstr>
      <vt:lpstr>Arial</vt:lpstr>
      <vt:lpstr>Calibri</vt:lpstr>
      <vt:lpstr>Aptos</vt:lpstr>
      <vt:lpstr>Alta</vt:lpstr>
      <vt:lpstr>Copperplate Gothic 29 BC Bold</vt:lpstr>
      <vt:lpstr>Tahoma</vt:lpstr>
      <vt:lpstr>Helvetica World Bold</vt:lpstr>
      <vt:lpstr>Arapey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ASTROF_Pitch.pptx</dc:title>
  <cp:lastModifiedBy>Kammari, Kavya Sree</cp:lastModifiedBy>
  <cp:revision>4</cp:revision>
  <dcterms:created xsi:type="dcterms:W3CDTF">2006-08-16T00:00:00Z</dcterms:created>
  <dcterms:modified xsi:type="dcterms:W3CDTF">2026-04-26T04:14:15Z</dcterms:modified>
  <dc:identifier>DAHHxpNSKDo</dc:identifier>
</cp:coreProperties>
</file>